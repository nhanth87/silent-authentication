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2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5120640"/>
            <a:ext cx="237744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120640"/>
            <a:ext cx="310896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5120640"/>
            <a:ext cx="274320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5120640"/>
            <a:ext cx="210312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" y="5486400"/>
            <a:ext cx="237744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0"/>
            <a:ext cx="310896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5486400"/>
            <a:ext cx="274320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9800" y="5486400"/>
            <a:ext cx="210312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0" y="5852160"/>
            <a:ext cx="237744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5852160"/>
            <a:ext cx="310896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5852160"/>
            <a:ext cx="274320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5852160"/>
            <a:ext cx="210312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0" y="6263640"/>
            <a:ext cx="23774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6263640"/>
            <a:ext cx="310896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6263640"/>
            <a:ext cx="274320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6263640"/>
            <a:ext cx="210312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FD3EC"/>
                </a:solidFill>
                <a:latin typeface="Calibri"/>
              </a:rPr>
              <a:t>DIGICOM-ET  ·  PROPOSAL  ·  ETHIOPIA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Silent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7FD3EC"/>
                </a:solidFill>
                <a:latin typeface="Calibri"/>
              </a:rPr>
              <a:t>SMS OTP lặng lẽ biến mất — phone-on-network là mật khẩu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4F0"/>
                </a:solidFill>
                <a:latin typeface="Calibri"/>
              </a:rPr>
              <a:t>CAMARA Number Verification  ·  TS.43 EAP-AKA  ·  MAP/Diameter verifier
Chạy trên nền micro-jainslee (SR-240 / JAIN SLEE 1.1)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FE4F0"/>
                </a:solidFill>
                <a:latin typeface="Calibri"/>
              </a:rPr>
              <a:t>confidential  ·  designed &amp; engineered by nhanth87 (Tran Nhan)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Nền tảng công nghệ — micro-jainslee (SR-240)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JAIN SLEE 1.1 / JSR-240 — container SLEE nhúng: event, activity, timer, RA, SBB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6BA8"/>
                </a:solidFill>
                <a:latin typeface="Calibri"/>
              </a:rPr>
              <a:t>micro-jainslee là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897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Container SLEE R&amp;D (~3 KLOC core) nhúng trong Quarkus / Spring / Jakarta — không cần server App đặt riêng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Triển khai subset JAIN SLEE 1.1 (JSR-240): SBB lifecycle, ActivityContext, EventRouting, Timer Facility (§9), RA SPI (§13)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EventRouter chạy LMAX Disruptor — nhận event, route đúng activity, gọi SBB entity theo vòng đời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Timer: Netty HashedWheelTimer qua SleeTimerSchedulerBridge — giới hạn dialog &amp; timeout fail-closed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Java 25: virtual-thread entity pool + hướng ZGC — sinh ra để chạy trong JVM nhỏ của SAS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APT sinh GeneratedEventTypes + SbbIndexLoader — map event → SBB tự động khi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23560"/>
            <a:ext cx="5897880" cy="685800"/>
          </a:xfrm>
          <a:prstGeom prst="roundRect">
            <a:avLst/>
          </a:prstGeom>
          <a:solidFill>
            <a:srgbClr val="FBF3E0"/>
          </a:solidFill>
          <a:ln w="12700"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Chỉ dành cho R&amp;D &amp; nhúng sản phẩm kiểu SAS lab — production USSD 7.3 vẫn dùng Mobicents SLEE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6BA8"/>
                </a:solidFill>
                <a:latin typeface="Calibri"/>
              </a:rPr>
              <a:t>Kiến trúc module &amp; luồng 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2514600" cy="7772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42B3C"/>
                </a:solidFill>
                <a:latin typeface="Calibri"/>
              </a:rPr>
              <a:t>App (Quarkus)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REST / services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40" y="1938528"/>
            <a:ext cx="36576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72600" y="1554480"/>
            <a:ext cx="2377440" cy="77724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micro-jainslee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MicroSleeConfiguration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514600"/>
            <a:ext cx="2377440" cy="658368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jainslee-api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SbbContext · Event · RA SPI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3355848"/>
            <a:ext cx="2377440" cy="658368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jainslee-core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ActivityContext · Disruptor EventRouter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4197096"/>
            <a:ext cx="2377440" cy="658368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jainslee-scheduler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HashedWheelTimer → SleeTimerBridge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5038344"/>
            <a:ext cx="2377440" cy="658368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jainslee-apt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GeneratedEventTypes · SbbIndexLoader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514600"/>
            <a:ext cx="2377440" cy="292608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SBB (VerifySbb)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onEvent → FSM
fireEvent ra tiếp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CMP · ChildSBB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RA wrapper: endpoint + command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bootstrap.fireEvent()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623560"/>
            <a:ext cx="525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Quy tắc: mọi I/O signalling nằm trong RA delegate (seam /ras/); không có executor/timer/socket tay ngoài container (gate H24).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2/21</a:t>
            </a:r>
          </a:p>
        </p:txBody>
      </p:sp>
      <p:sp>
        <p:nvSpPr>
          <p:cNvPr id="19" name="Oval 18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H24 — chỉ micro-jainslee chạy SAS, không code vòng quanh container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HTTP layer chỉ nộp event và chờ kết quả; trạng thái / timer / signalling đều trong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1737360" cy="137160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42B3C"/>
                </a:solidFill>
                <a:latin typeface="Calibri"/>
              </a:rPr>
              <a:t>Bank Backend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POST /verify
(mTLS, reqId)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27432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2194560"/>
            <a:ext cx="2148840" cy="137160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42B3C"/>
                </a:solidFill>
                <a:latin typeface="Calibri"/>
              </a:rPr>
              <a:t>HTTP seam (Quarkus)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VerifyResource
chỉ submit event
chờ CompletableFuture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80" y="27432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57800" y="1463040"/>
            <a:ext cx="4297680" cy="429768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micro-jainslee container (1 container)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011680"/>
            <a:ext cx="3657600" cy="137160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RA delegates — transport seam (/ras/)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resolver-ra · map-verifier-ra
s6a-verifier-ra · swx-verifier-ra
chỉ nơi này mới có I/O SS7/Diameter — bootstrap.fireEvent()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657600"/>
            <a:ext cx="3657600" cy="155448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VerifySbb — onEvent → FSM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RESOLVING → VERIFYING → SCORING
→ APPROVED · FALLBACK (fail-closed)
timer dialog có giới hạn, timeout ⇒ abort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3383280"/>
            <a:ext cx="0" cy="27432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2194560"/>
            <a:ext cx="1737360" cy="137160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142B3C"/>
                </a:solidFill>
                <a:latin typeface="Calibri"/>
              </a:rPr>
              <a:t>SAS outcome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APPROVED | FALLBACK
assurance + reqId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Ràng buộc kiến trúc (gate H24): com.microjainslee.core.* chỉ truy cập từ SasBootstrap; cấm javax.slee/jakarta.slee (không container thứ hai); cấm executor/timer/socket tay ngoài /ras/; RA không được bypass container. — Kiểm tra tự động qua harness.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3/21</a:t>
            </a:r>
          </a:p>
        </p:txBody>
      </p:sp>
      <p:sp>
        <p:nvSpPr>
          <p:cNvPr id="16" name="Oval 15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Agenda — đề xuất Silent Authentication cho ngân hàng Ethiopia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30936" y="134416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Vì sao ngân hàng cần Silent Auth ngay bây giờ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819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SMS OTP tấn công &amp; chi phí banking</a:t>
            </a:r>
          </a:p>
        </p:txBody>
      </p:sp>
      <p:sp>
        <p:nvSpPr>
          <p:cNvPr id="7" name="Oval 6"/>
          <p:cNvSpPr/>
          <p:nvPr/>
        </p:nvSpPr>
        <p:spPr>
          <a:xfrm>
            <a:off x="630936" y="207568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Giải pháp: Xác thực im lặng hai tầng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Resolver + Verifier, IP-match &amp; TS.43</a:t>
            </a:r>
          </a:p>
        </p:txBody>
      </p:sp>
      <p:sp>
        <p:nvSpPr>
          <p:cNvPr id="10" name="Oval 9"/>
          <p:cNvSpPr/>
          <p:nvPr/>
        </p:nvSpPr>
        <p:spPr>
          <a:xfrm>
            <a:off x="630936" y="280720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Hạ tầng công nghệ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449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micro-jainslee (SR-240) chạy SAS — H24 boundary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" y="353872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29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CAMARA Number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7647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Giao diện /verify cho bank, token + mTLS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" y="427024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60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Assurance &amp; an toàn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0799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Điểm tin cậy, fail-closed, không ATI liên mạng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" y="500176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892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Kiến trúc thống nhất A+B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395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Silent Auth + bảo vệ kênh SMS/SS7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" y="5733288"/>
            <a:ext cx="292608" cy="292608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62355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43255"/>
                </a:solidFill>
                <a:latin typeface="Calibri"/>
              </a:rPr>
              <a:t>Mô hình thương mại &amp; lộ trình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971031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Digicom-ET bán VAS, triển khai 4 pha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4/21</a:t>
            </a:r>
          </a:p>
        </p:txBody>
      </p:sp>
      <p:sp>
        <p:nvSpPr>
          <p:cNvPr id="26" name="Oval 25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Vì sao Ethiopia, vì sao ngay bây giờ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Mobile money phổ cập nhanh — nhưng lớp xác thực vẫn là SMS OTP dễ đánh cắp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2B3C"/>
                </a:solidFill>
                <a:latin typeface="Calibri"/>
              </a:rPr>
              <a:t>•  Mobile-first: phần lớn người dùng tài chính vào ngân hàng qua app trên 2G/3G/4G — không bàn phím phần cứng, không FIDO keys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2B3C"/>
                </a:solidFill>
                <a:latin typeface="Calibri"/>
              </a:rPr>
              <a:t>•  SMS OTP ngày càng rẻ để tấn công: SS7 interception, SIM swap, malware trên thiết bị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2B3C"/>
                </a:solidFill>
                <a:latin typeface="Calibri"/>
              </a:rPr>
              <a:t>•  Ngân hàng chịu 100% chi phí cho luồng OTP: SMSC, trunk, hỗ trợ khách hàng khi gửi trễ/thất bại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2B3C"/>
                </a:solidFill>
                <a:latin typeface="Calibri"/>
              </a:rPr>
              <a:t>•  Chính phủ &amp; NBE đang siết yêu cầu an toàn: bằng chứng thiết bị + chống gian lận chuyển khoản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2B3C"/>
                </a:solidFill>
                <a:latin typeface="Calibri"/>
              </a:rPr>
              <a:t>•  Digicom-ET nằm sẵn trên hạ tầng operator (Ethio Telecom) — không phải nhập hạ tầng mới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120640" cy="210312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Bối cảnh 2026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Phát hành e-wallet / tài khoản số tăng theo chính sách tài chính toàn diện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Ngân hàng cạnh tranh bằng UX: login không mật khẩu rõ ràng, siêu mượt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749039"/>
            <a:ext cx="5120640" cy="21031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Vấn đề của OTP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• Chiếm đoạt session qua SMS intercept / SIM swap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• Chi phí vận hành trọn đời rất lớn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• Friction: gõ 6 số, gửi lại, hết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5/21</a:t>
            </a:r>
          </a:p>
        </p:txBody>
      </p:sp>
      <p:sp>
        <p:nvSpPr>
          <p:cNvPr id="9" name="Oval 8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SMS OTP — khâu yếu nhất của ngân hàng Ethiopia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Tấn công không cần hacker vào app — chỉ cần lấy được mã một lần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  <a:gridCol w="1828800"/>
              </a:tblGrid>
              <a:tr h="822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Tấn công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Cơ chế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Phân loại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SS7 / Roaming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Đọc mã qua quá giang liên mạng — intercept SMS trên đường đến thiết bị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1 · FS.11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SIM swap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Chuyển số → SIM mới; OTP gửi cho kẻ gian, khóa tài khoản nạn nhân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FS.11 SIM-swap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Malware / 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RAT trên điện thoại đọc SMS; OTP bị chặn trước khi người dùng nhập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OWASP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SMS flooding / trễ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OTP không đến — khách hàng bỏ dở, hỗ trợ tốn kém, doanh số mất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UX / chi phí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Trunk/subscription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Nhà cung cấp SMS bán số OTP; gửi vào vùng không có bảo vệ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FS.21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6BA8"/>
                </a:solidFill>
                <a:latin typeface="Calibri"/>
              </a:rPr>
              <a:t>→ Silent Auth loại bỏ mã một lần khỏi phương trình: chứng minh chính số điện thoại / SIM đang nắm trong tay.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6/21</a:t>
            </a:r>
          </a:p>
        </p:txBody>
      </p:sp>
      <p:sp>
        <p:nvSpPr>
          <p:cNvPr id="8" name="Oval 7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Giải pháp — Silent Authentication (xác thực im lặng)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Chứng minh chính số máy đang nắm trong tay — không nhập OTP, không nhập lại mật khẩu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301752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Phương pháp IP-match (bearer)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Root of trust: IP↔MSISDN qua PGW + MAP/Diameter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Cần cellular data (2G/3G/4G/5G)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CGNAT → phải có IP + port + timestamp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Fails khi Wi-Fi / không binding / stale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486400" cy="30175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Phương pháp SIM / TS.43 (EAP-AKA)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Root of trust: chính credential SIM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Không cần cellular data — Wi-Fi + browser OK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Shrinks fallback-to-OTP surface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Entitlement server + SWm/SWx (TS 29.273, 33.402)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92840" cy="91440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App-facing: CAMARA Number Verification (NV2) — bank gọi POST /verify, SAS trả {match, assurance}.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11292840" cy="640080"/>
          </a:xfrm>
          <a:prstGeom prst="roundRect">
            <a:avLst/>
          </a:prstGeom>
          <a:solidFill>
            <a:srgbClr val="FBF3E0"/>
          </a:solidFill>
          <a:ln w="12700"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Cả hai đều fail-closed: thiếu bằng chứng → FALLBACK (Passkey / TOTP / firewalled SMS OTP) — không bao giờ soft-pass.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7/21</a:t>
            </a:r>
          </a:p>
        </p:txBody>
      </p:sp>
      <p:sp>
        <p:nvSpPr>
          <p:cNvPr id="10" name="Oval 9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Thiết kế nền: hai tầng bắt buộc — Resolver rồi Verifier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MAP / Diameter không bao giờ ánh xạ IP → MSISDN; tách trách nhiệm để hết nguy cơ sai nguồn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377440" cy="23774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INPUT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srcIP : srcPort : ts
(+ claimedMSISDN?)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point-in-time from device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2834640"/>
            <a:ext cx="6858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20440" y="1463040"/>
            <a:ext cx="2377440" cy="274320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RESOLVER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PGW / GGSN / PCRF / CGNAT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IP+port+ts → MSISDN / IMSI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bao nhiêu MSISDN trên IP đó?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97880" y="2834640"/>
            <a:ext cx="6858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1463040"/>
            <a:ext cx="2377440" cy="274320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VERIFIER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MAP (PSI/ATI/SAI) · Diam S6a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MSISDN/IMSI có live? SIM-swap?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location plausibility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2834640"/>
            <a:ext cx="6858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646920" y="1737360"/>
            <a:ext cx="2103120" cy="237744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ASSURANCE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Policy score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APPROVED nếu đủ,
FALLBACK nếu thiếu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B3C"/>
                </a:solidFill>
                <a:latin typeface="Calibri"/>
              </a:rPr>
              <a:t>Quy tắc bất biến (design invariant)
• MAP/Diameter không ánh xạ IP→MSISDN — chỉ Resolver (PGW/PCRF/CGNAT) làm việc đó.
• Verifier chỉ hỏi chính HLR/HSS nhà mình — không ATI liên mạng (FS.11 Cat 1).
• Mỗi giai đoạn đúng một dialog; timeout có giới hạn ⇒ abort, không để rò dialog.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8/21</a:t>
            </a:r>
          </a:p>
        </p:txBody>
      </p:sp>
      <p:sp>
        <p:nvSpPr>
          <p:cNvPr id="14" name="Oval 13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Luồng gọi E2E — Silent Auth thay OTP khi login ngân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IP-match path (cellular); tổng ngân sách SAS 3 giây; bất kỳ thiếu bằng chứng nào →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người dùng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0688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Bank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688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app trên di động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556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1376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Bank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khách hàng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8244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SAS (micro-jainslee)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Resolver+Verifier+Policy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2752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IP Resolver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752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PGW/PCRF/CGNAT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9620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3440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MAP/Diam verifier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0308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41280" y="1234440"/>
            <a:ext cx="1737360" cy="566928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HLR/HSS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234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D5D6A"/>
                </a:solidFill>
                <a:latin typeface="Calibri"/>
              </a:rPr>
              <a:t>chính operator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09960" y="1234440"/>
            <a:ext cx="0" cy="4663440"/>
          </a:xfrm>
          <a:prstGeom prst="line">
            <a:avLst/>
          </a:prstGeom>
          <a:ln w="15240">
            <a:solidFill>
              <a:srgbClr val="7FD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" y="2453640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2453639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mở app · chạm login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75560" y="2721428"/>
            <a:ext cx="256032" cy="0"/>
          </a:xfrm>
          <a:prstGeom prst="line">
            <a:avLst/>
          </a:prstGeom>
          <a:ln w="20320">
            <a:solidFill>
              <a:srgbClr val="2FA4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68168" y="26117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42B3C"/>
                </a:solidFill>
                <a:latin typeface="Calibri"/>
              </a:rPr>
              <a:t>collect {srcIP, srcPort, ts, claimedMSISDN?}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75560" y="2989216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75560" y="2989215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POST /login (deviceCred)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82440" y="3257004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82440" y="3257003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POST /verify — mTLS + reqId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3524792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89320" y="3524791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resolve(srcIP, srcPort, ts)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989320" y="3792580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89320" y="3792579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{msisdn, imsi, bearerAge}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89320" y="4060368"/>
            <a:ext cx="341376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89320" y="4060367"/>
            <a:ext cx="341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verify(msisdn, imsi)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03080" y="4328156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403080" y="4328155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MAP PSI/ATI · Diam S6a AIR/IDR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9403080" y="4595944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403080" y="4595943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subscriberState, VLR/MME, lastUpdate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5989320" y="4863732"/>
            <a:ext cx="341376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89320" y="4863731"/>
            <a:ext cx="341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{reachable, notSimSwapped, locPlausible}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989320" y="5131520"/>
            <a:ext cx="256032" cy="0"/>
          </a:xfrm>
          <a:prstGeom prst="line">
            <a:avLst/>
          </a:prstGeom>
          <a:ln w="20320">
            <a:solidFill>
              <a:srgbClr val="2FA4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81928" y="5021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42B3C"/>
                </a:solidFill>
                <a:latin typeface="Calibri"/>
              </a:rPr>
              <a:t>Policy score ≥ threshold?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4282440" y="5399308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282440" y="5399307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{match:true, assurance:HIGH, reqId}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2575560" y="5667096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575560" y="5667095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Login OK — không cần OTP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868680" y="5934884"/>
            <a:ext cx="1706880" cy="0"/>
          </a:xfrm>
          <a:prstGeom prst="line">
            <a:avLst/>
          </a:prstGeom>
          <a:ln w="2286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8680" y="5934883"/>
            <a:ext cx="170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42B3C"/>
                </a:solidFill>
                <a:latin typeface="Calibri"/>
              </a:rPr>
              <a:t>phiên đã xác thực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Dialog-anchor: Resolver ≤ 300ms · MAP PSI/ATI ≤ 2s · Diameter S6a ≤ 2s · tổng SAS ≤ 3s. Timeout ⇒ abort dialog → FALLBACK.  MSISDN/IMSI không bao giờ trả về app.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9/21</a:t>
            </a:r>
          </a:p>
        </p:txBody>
      </p:sp>
      <p:sp>
        <p:nvSpPr>
          <p:cNvPr id="56" name="Oval 55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CAMARA Number Verification — vùng trách nhiệm 3 phía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CV: CAMARA v2.1.0 /verify — token JWS ≤ 300s, single-use; CDR ghi full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4480560"/>
          </a:xfrm>
          <a:prstGeom prst="rect">
            <a:avLst/>
          </a:prstGeom>
          <a:solidFill>
            <a:srgbClr val="BFE4F0"/>
          </a:solidFill>
          <a:ln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BA8"/>
                </a:solidFill>
                <a:latin typeface="Calibri"/>
              </a:rPr>
              <a:t>BANK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Mobile App (UE)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SIM + access-tech
iOS/Android/Web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Bank Backend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POST /login → /verify
mTLS · API key · reqId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051560"/>
            <a:ext cx="5897880" cy="4480560"/>
          </a:xfrm>
          <a:prstGeom prst="rect">
            <a:avLst/>
          </a:prstGeom>
          <a:solidFill>
            <a:srgbClr val="EAF6FB"/>
          </a:solidFill>
          <a:ln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BA8"/>
                </a:solidFill>
                <a:latin typeface="Calibri"/>
              </a:rPr>
              <a:t>DIGICOM-ET — CAMARA GATEWAY ★ SẢN PHẨM BÁN CHO 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Auth Server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/bc-authorize · /token
JWS ≤ 300s single-use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NV API · CAMARA v2.1.0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POST /verify
so claimed vs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926080"/>
            <a:ext cx="5669280" cy="228600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Network Adapter Layer (micro-jainslee — SR-240)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Resolver: PCRF Gx/RADIUS/CGNAT · Verifier: MAP(SIP) / Diam S6a / SWx TS.43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FSM fail-closed · assurance score · CDR · dialog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051560"/>
            <a:ext cx="2743200" cy="4480560"/>
          </a:xfrm>
          <a:prstGeom prst="rect">
            <a:avLst/>
          </a:prstGeom>
          <a:solidFill>
            <a:srgbClr val="BFE4F0"/>
          </a:solidFill>
          <a:ln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0972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6BA8"/>
                </a:solidFill>
                <a:latin typeface="Calibri"/>
              </a:rPr>
              <a:t>ETHIO TELECOM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46304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HLR / HSS / UDM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MAP · S6a · SWx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74320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PCRF / AAA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Gx · RADIUS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4023360"/>
            <a:ext cx="2377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PGW / CGNAT</a:t>
            </a:r>
          </a:p>
          <a:p>
            <a:pPr algn="ctr"/>
            <a:r>
              <a:rPr sz="1000" b="0">
                <a:solidFill>
                  <a:srgbClr val="142B3C"/>
                </a:solidFill>
                <a:latin typeface="Calibri"/>
              </a:rPr>
              <a:t>RADIUS accounting · log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1920240"/>
            <a:ext cx="41148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34640" y="3474720"/>
            <a:ext cx="41148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1965960"/>
            <a:ext cx="13716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017520"/>
            <a:ext cx="2971800" cy="0"/>
          </a:xfrm>
          <a:prstGeom prst="line">
            <a:avLst/>
          </a:prstGeom>
          <a:ln w="2540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26480" y="3291840"/>
            <a:ext cx="2971800" cy="0"/>
          </a:xfrm>
          <a:prstGeom prst="line">
            <a:avLst/>
          </a:prstGeom>
          <a:ln w="2540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26480" y="3566160"/>
            <a:ext cx="2971800" cy="0"/>
          </a:xfrm>
          <a:prstGeom prst="line">
            <a:avLst/>
          </a:prstGeom>
          <a:ln w="2540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B3C"/>
                </a:solidFill>
                <a:latin typeface="Calibri"/>
              </a:rPr>
              <a:t>Giá trị: bank thấy HTTPS chuẩn Open Gateway — toàn bộ SS7/Diameter nằm sau lớp adapter của Digicom; HSS/HLR là tài nguyên operator. Không lộ MSISDN/IMSI cho app.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10/21</a:t>
            </a:r>
          </a:p>
        </p:txBody>
      </p:sp>
      <p:sp>
        <p:nvSpPr>
          <p:cNvPr id="27" name="Oval 26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SAS FSM — fail-closed, không bao giờ soft-pass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Mọi ngõ thiếu bằng chứng / timeout / SIM-swap nghi ngờ / điểm thấp ⇒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11887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42B3C"/>
                </a:solidFill>
                <a:latin typeface="Calibri"/>
              </a:rPr>
              <a:t>RESOLVING</a:t>
            </a:r>
          </a:p>
          <a:p>
            <a:pPr algn="ctr"/>
            <a:r>
              <a:rPr sz="1400" b="0">
                <a:solidFill>
                  <a:srgbClr val="142B3C"/>
                </a:solidFill>
                <a:latin typeface="Calibri"/>
              </a:rPr>
              <a:t>IP binding + 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148840"/>
            <a:ext cx="9144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1554480"/>
            <a:ext cx="2468880" cy="11887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42B3C"/>
                </a:solidFill>
                <a:latin typeface="Calibri"/>
              </a:rPr>
              <a:t>VERIFYING</a:t>
            </a:r>
          </a:p>
          <a:p>
            <a:pPr algn="ctr"/>
            <a:r>
              <a:rPr sz="1400" b="0">
                <a:solidFill>
                  <a:srgbClr val="142B3C"/>
                </a:solidFill>
                <a:latin typeface="Calibri"/>
              </a:rPr>
              <a:t>MAP/Diam/SWx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148840"/>
            <a:ext cx="9144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1554480"/>
            <a:ext cx="2468880" cy="11887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42B3C"/>
                </a:solidFill>
                <a:latin typeface="Calibri"/>
              </a:rPr>
              <a:t>SCORING</a:t>
            </a:r>
          </a:p>
          <a:p>
            <a:pPr algn="ctr"/>
            <a:r>
              <a:rPr sz="1400" b="0">
                <a:solidFill>
                  <a:srgbClr val="142B3C"/>
                </a:solidFill>
                <a:latin typeface="Calibri"/>
              </a:rPr>
              <a:t>weights + threshold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148840"/>
            <a:ext cx="91440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35440" y="1554480"/>
            <a:ext cx="2468880" cy="118872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42B3C"/>
                </a:solidFill>
                <a:latin typeface="Calibri"/>
              </a:rPr>
              <a:t>APPROVED</a:t>
            </a:r>
          </a:p>
          <a:p>
            <a:pPr algn="ctr"/>
            <a:r>
              <a:rPr sz="1400" b="0">
                <a:solidFill>
                  <a:srgbClr val="142B3C"/>
                </a:solidFill>
                <a:latin typeface="Calibri"/>
              </a:rPr>
              <a:t>assurance trả về bank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291840"/>
            <a:ext cx="2377440" cy="1005840"/>
          </a:xfrm>
          <a:prstGeom prst="roundRect">
            <a:avLst/>
          </a:prstGeom>
          <a:solidFill>
            <a:srgbClr val="FBF3E0"/>
          </a:solidFill>
          <a:ln w="12700"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FALLBACK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Passkey · TOTP · firewalled SMS OTP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2743200"/>
            <a:ext cx="4114800" cy="548640"/>
          </a:xfrm>
          <a:prstGeom prst="line">
            <a:avLst/>
          </a:prstGeom>
          <a:ln w="20320">
            <a:solidFill>
              <a:srgbClr val="E8C8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743200"/>
            <a:ext cx="1188720" cy="548640"/>
          </a:xfrm>
          <a:prstGeom prst="line">
            <a:avLst/>
          </a:prstGeom>
          <a:ln w="20320">
            <a:solidFill>
              <a:srgbClr val="E8C8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760720" y="2743200"/>
            <a:ext cx="1737360" cy="548640"/>
          </a:xfrm>
          <a:prstGeom prst="line">
            <a:avLst/>
          </a:prstGeom>
          <a:ln w="20320">
            <a:solidFill>
              <a:srgbClr val="E8C87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57200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6858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Giai đoạn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Ngân sách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Khi hết hạn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Resolver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≤ 300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không binding / &gt;1 MSISDN / stale →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MAP PSI/ATI (2G/3G)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≤ 2 s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abort dialog, FALLBACK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Diameter S6a (4G/5G)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≤ 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abort dialog,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Tổng SAS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≤ 3 s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bank dùng ngân sách login bình thường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11/21</a:t>
            </a:r>
          </a:p>
        </p:txBody>
      </p:sp>
      <p:sp>
        <p:nvSpPr>
          <p:cNvPr id="18" name="Oval 17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Code flow — VerifySbb đóng vai trò duy nhất điều phối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onEvent(VerifyRequestEvent) → resolve → verify → score → complete → CDR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1645920" cy="118872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VerifyResource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(Quarkus)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18288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234440"/>
            <a:ext cx="2011680" cy="11887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submit event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VerifyRequestEvent
container.fireEvent()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26280" y="18288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234440"/>
            <a:ext cx="2743200" cy="118872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VerifySbb.onEvent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event mask → activity
CMP + FSM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0" y="18288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75320" y="1234440"/>
            <a:ext cx="3474720" cy="118872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coordinator.complete + CDR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persist result · flow CDR
MSISDN masked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80360"/>
            <a:ext cx="3840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1 RESOLVE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resolverRa.sendCommand
ResolveCommand(ip, port, ts)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43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D5D6A"/>
                </a:solidFill>
                <a:latin typeface="Calibri"/>
              </a:rPr>
              <a:t>→ PGW/PCRF/CGNAT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06240" y="3749039"/>
            <a:ext cx="9144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2880360"/>
            <a:ext cx="3840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2 VERIFY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mapVerifierRa / s6aVerifierRa
SendAuthInfo / PSI / AIR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343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D5D6A"/>
                </a:solidFill>
                <a:latin typeface="Calibri"/>
              </a:rPr>
              <a:t>→ HLR/HSS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60" y="3749039"/>
            <a:ext cx="3931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2880360"/>
            <a:ext cx="3840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3 SCORE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AssurancePolicy
score ≥ threshold?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43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D5D6A"/>
                </a:solidFill>
                <a:latin typeface="Calibri"/>
              </a:rPr>
              <a:t>→ risk class adapt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B3C"/>
                </a:solidFill>
                <a:latin typeface="Calibri"/>
              </a:rPr>
              <a:t>Mô hình event-driven thay vì gọi trực tiếp backend:
• REST không sở hữu trạng thái — chỉ submit event và await CompletableFuture.
• Mỗi bước là command đi qua RA endpoint → bootstrap.fireEvent() (không bypass container).
• Timeout dialog do timer of container cắt — abort ⇒ FALLBACK; không rò TCAP dialog.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12/21</a:t>
            </a:r>
          </a:p>
        </p:txBody>
      </p:sp>
      <p:sp>
        <p:nvSpPr>
          <p:cNvPr id="22" name="Oval 21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Assurance scoring — điểm tin cậy mỗi lần verify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APPROVE ⇔ score ≥ threshold VÀ resolved == claimed (khi có claimed)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score = w₁·ipBindingFresh  +  w₂·reachable  +  w₃·notSimSwapped  +  w₄·locationPlausible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1097280" cy="7772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w₁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binding tươi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34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IP+port+ts còn hiệu lực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1097280" cy="7772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w₂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subscriber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703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MAP PSI / Diameter 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34840"/>
            <a:ext cx="1097280" cy="7772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w₃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không SIM-swap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SAI / last-update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03520"/>
            <a:ext cx="1097280" cy="7772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w₄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vị trí hợp lý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440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VLR/MME phù hợp tương quan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697480"/>
            <a:ext cx="6492240" cy="274320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Quy tắc áp dụng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• Ngưỡng (threshold) theo risk: login thường thấp, giao dịch giá trị cao nâng ngưỡng / step-up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• Mọi giai đoạn thiếu bằng chứng → không APPROVE (fail-closed)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• accessTech do device khai chỉ là advisory — không nâng assurance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• WIFI / FIXED (không SIM) bị từ chối ở /session-tuple — không gieo binding cellular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13/21</a:t>
            </a:r>
          </a:p>
        </p:txBody>
      </p:sp>
      <p:sp>
        <p:nvSpPr>
          <p:cNvPr id="16" name="Oval 15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Fallback — quyết định theo access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AccessTech là bearer claim; device khai WIFI/FIXED không bao giờ seed binding cellular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011680" cy="91440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Auth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828800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80360" y="1280160"/>
            <a:ext cx="2468880" cy="11887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AccessTech?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GS_2G3G / LTE / NR
(device khai + SEAM)?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514600"/>
            <a:ext cx="0" cy="777240"/>
          </a:xfrm>
          <a:prstGeom prst="line">
            <a:avLst/>
          </a:prstGeom>
          <a:ln w="2032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1874519"/>
            <a:ext cx="50292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09160" y="1481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5D6A"/>
                </a:solidFill>
                <a:latin typeface="Calibri"/>
              </a:rPr>
              <a:t>CÓ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71600"/>
            <a:ext cx="2377440" cy="100584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Silent Auth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IP-match: Resolver + Verifier
(hoặc TS.43 khi có SIM)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60" y="2377440"/>
            <a:ext cx="0" cy="868680"/>
          </a:xfrm>
          <a:prstGeom prst="line">
            <a:avLst/>
          </a:prstGeom>
          <a:ln w="2032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3291840"/>
            <a:ext cx="2377440" cy="137160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Scoring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resolved==claimed?
score ≥ threshold?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120640" y="3977639"/>
            <a:ext cx="868680" cy="502921"/>
          </a:xfrm>
          <a:prstGeom prst="line">
            <a:avLst/>
          </a:prstGeom>
          <a:ln w="2032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4663440"/>
            <a:ext cx="0" cy="914400"/>
          </a:xfrm>
          <a:prstGeom prst="line">
            <a:avLst/>
          </a:prstGeom>
          <a:ln w="2032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40480" y="4480560"/>
            <a:ext cx="1280160" cy="731520"/>
          </a:xfrm>
          <a:prstGeom prst="roundRect">
            <a:avLst/>
          </a:prstGeom>
          <a:solidFill>
            <a:srgbClr val="E4F2E9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APPROVED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1874519"/>
            <a:ext cx="320040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80" y="14813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D5D6A"/>
                </a:solidFill>
                <a:latin typeface="Calibri"/>
              </a:rPr>
              <a:t>KHÔNG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28016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TS.43 Wi-Fi (SIM EAP-AKA)?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entitlement + SWm/SWx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704320" y="1874519"/>
            <a:ext cx="137160" cy="0"/>
          </a:xfrm>
          <a:prstGeom prst="line">
            <a:avLst/>
          </a:prstGeom>
          <a:ln w="25400">
            <a:solidFill>
              <a:srgbClr val="0E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778240" y="2743200"/>
            <a:ext cx="3017520" cy="2834640"/>
          </a:xfrm>
          <a:prstGeom prst="roundRect">
            <a:avLst/>
          </a:prstGeom>
          <a:solidFill>
            <a:srgbClr val="FBF3E0"/>
          </a:solidFill>
          <a:ln w="12700"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42B3C"/>
                </a:solidFill>
                <a:latin typeface="Calibri"/>
              </a:rPr>
              <a:t>FALLBACK (firewalled)</a:t>
            </a:r>
          </a:p>
          <a:p>
            <a:pPr algn="ctr"/>
            <a:r>
              <a:rPr sz="1100" b="0">
                <a:solidFill>
                  <a:srgbClr val="142B3C"/>
                </a:solidFill>
                <a:latin typeface="Calibri"/>
              </a:rPr>
              <a:t>Passkey · TOTP
SMS OTP chỉ qua Home Routing
SIM-swap check trước khi gửi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2468880"/>
            <a:ext cx="0" cy="274320"/>
          </a:xfrm>
          <a:prstGeom prst="line">
            <a:avLst/>
          </a:prstGeom>
          <a:ln w="2032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498079" y="3291840"/>
            <a:ext cx="868681" cy="731520"/>
          </a:xfrm>
          <a:prstGeom prst="line">
            <a:avLst/>
          </a:prstGeom>
          <a:ln w="20320">
            <a:solidFill>
              <a:srgbClr val="0E6BA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5D6A"/>
                </a:solidFill>
                <a:latin typeface="Calibri"/>
              </a:rPr>
              <a:t>UE SDK fail-closed khi không đọc được radio; browser không pin được socket → chỉ observe. Task P-H8: cần endpoint echo để biết srcPort sau CGNAT.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14/21</a:t>
            </a:r>
          </a:p>
        </p:txBody>
      </p:sp>
      <p:sp>
        <p:nvSpPr>
          <p:cNvPr id="26" name="Oval 25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Verifier — bản đồ message với chính operator (không liên mạng)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TS 29.002 (MAP) · TS 29.272 (S6a) — mỗi giai đoạn một dialog, timeout abort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5852160"/>
                <a:gridCol w="201168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Truy nhập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Mục đích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Phân loại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2G/3G · MAP (intra)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subscriber state +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2.1 · được chọn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2G/3G · MAP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ATI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any-time interrogation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1 — NỘI MẠNG, cấm liên mạng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2G/3G ·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auth vectors / SIM-swap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LTE/5G · Diameter S6a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AIR/AIA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authentication info request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FS.19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LTE/5G · Diameter S6a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IDR/IDA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device/sub state (insert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FS.19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B3C"/>
                </a:solidFill>
                <a:latin typeface="Calibri"/>
              </a:rPr>
              <a:t>Các quy tắc verifier:
• Chỉ hỏi HLR/HSS của operator nhà mình — spoofed GT không được tin (FS.11 §3.3.4).
• jSS7 đường đi thật: AnyTimeInterrogation* / ProvideSubscriberInfo* / SendAuthenticationInfo* (MAPServiceMobility) — không ATI qua interconnect.
• Kết quả: {reachable, notSimSwapped, locationPlausible} → đưa vào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15/21</a:t>
            </a:r>
          </a:p>
        </p:txBody>
      </p:sp>
      <p:sp>
        <p:nvSpPr>
          <p:cNvPr id="8" name="Oval 7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Kiến trúc thống nhất — Strategy A + B, bổ trợ chứ không thay thế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A: thay OTP bằng silent auth · B: bảo vệ chính kênh SMS/SS7/Diameter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18872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STRATEGY A — Identity / Application layer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SAS · CAMARA /verify · TS.43 · IP-match (micro-jainslee)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Resolver + Verifier + Policy · fail-closed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1247120" cy="457200"/>
          </a:xfrm>
          <a:prstGeom prst="roundRect">
            <a:avLst/>
          </a:prstGeom>
          <a:solidFill>
            <a:srgbClr val="2FA4C6"/>
          </a:solidFill>
          <a:ln w="12700">
            <a:solidFill>
              <a:srgbClr val="2FA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STRATEGY B — Signalling / Interconnect border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697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4G/5G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Diameter Edge Agent
DEA · FS.19
SEPP/N32 · FS.36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291840"/>
            <a:ext cx="2697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SS7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SS7 Firewall
MAP filter · FS.11
roaming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91840"/>
            <a:ext cx="2697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SMS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SMS Home Routing
A2P giữ tại operator
MT-spoof chặn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291840"/>
            <a:ext cx="2697480" cy="173736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SAS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Fallback OTP
chỉ gửi khi đã
SIM-swap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B3C"/>
                </a:solidFill>
                <a:latin typeface="Calibri"/>
              </a:rPr>
              <a:t>Thứ tự triển khai: (1) bảo vệ SMS → (2) Diameter/5G → (3) giới thiệu silent auth → (4) dịch chuyển lưu lượng; OTP thu nhỏ về kênh fallback đã firewalled. Silent auth không thay thế SS7/Diameter firewall.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16/21</a:t>
            </a:r>
          </a:p>
        </p:txBody>
      </p:sp>
      <p:sp>
        <p:nvSpPr>
          <p:cNvPr id="13" name="Oval 12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An toàn — checklist không được thụt lùi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Mọi điều khoản đều thuộc design ràng buộc (fail-closed, không liên mạng)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Không ATI liên mạng — SAS chỉ hỏi HLR/HSS nhà mình (FS.11 Cat 1)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Fail-closed: thiếu bằng chứng không bao giờ APPROVE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Idempotency: reqId dedup — một dialog MAP/Diameter mỗi giai đoạn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Dialog leak: TC timer giới hạn, timeout ⇒ abort()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Race: binding đọc là point-in-time (ts), không phải 'latest'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Replay: bank→SAS mTLS; cửa sổ ts + reqId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CGNAT: luôn IP+port+ts; &gt;1 MSISDN trên cùng IP ⇒ reject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Bearer: device khai WIFI/FIXED từ chối ở /session-tuple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SDK fail-closed nếu không đọc được radio; không bindProcessToNetwork (rò process-wide)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Privacy: MSISDN/IMSI không bao giờ trả về app — chỉ bank backend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Spoofed GT: chỉ tin response từ chính HSS (FS.11 §3.3.4)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CDR: masking MSISDN, IMSI không vào CDR — không đổi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17/21</a:t>
            </a:r>
          </a:p>
        </p:txBody>
      </p:sp>
      <p:sp>
        <p:nvSpPr>
          <p:cNvPr id="8" name="Oval 7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FS.11 — phân loại MAP mà silent auth tuân thủ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GSMA FASG FS.11: categories của SS7 MAP — thiết kế SAS nằm trong đường được phép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4572000"/>
                <a:gridCol w="3749039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Loại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Ý nghĩa FS.11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Quyết định SAS</a:t>
                      </a:r>
                    </a:p>
                  </a:txBody>
                  <a:tcPr>
                    <a:solidFill>
                      <a:srgbClr val="0432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ATI quá giang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Đọc thông tin thuê bao qua network khác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Bị cấm — SAS tuyệt đối không dùng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2.1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PSI nội mạng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Trạng thái + vị trí thuê bao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Dùng — ProvideSubscriberInfo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PSI liên mạng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Hỏi vị trí qua biên giới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Cấm — không bao giờ có điều kiện này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Cat 3.2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SAI nội mạng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Auth vectors / SIM-swap freshness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42B3C"/>
                          </a:solidFill>
                          <a:latin typeface="Calibri"/>
                        </a:rPr>
                        <a:t>Dùng — SendAuthenticationInfo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B3C"/>
                </a:solidFill>
                <a:latin typeface="Calibri"/>
              </a:rPr>
              <a:t>Sự phân biệt ghi trong design: P2 MAP transport thật (jSS7 coral-valley) lái PSI + SAI về đúng HLR/HSS operator — không ATI, không đường quá giang. Xem docs/research/3gpp-ts29-002-map.md + docs/design/silent-auth-flow.md.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18/21</a:t>
            </a:r>
          </a:p>
        </p:txBody>
      </p:sp>
      <p:sp>
        <p:nvSpPr>
          <p:cNvPr id="8" name="Oval 7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Mô hình thương mại — Digicom-ET bán VAS, không lấy tiền 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Lớp adapter phía trên Ethio Telecom — A2P SMS vẫn chạy qua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91840" cy="1645920"/>
          </a:xfrm>
          <a:prstGeom prst="roundRect">
            <a:avLst/>
          </a:prstGeom>
          <a:solidFill>
            <a:srgbClr val="BFE4F0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42B3C"/>
                </a:solidFill>
                <a:latin typeface="Calibri"/>
              </a:rPr>
              <a:t>Ngân hàng</a:t>
            </a:r>
          </a:p>
          <a:p>
            <a:pPr algn="ctr"/>
            <a:r>
              <a:rPr sz="1300" b="0">
                <a:solidFill>
                  <a:srgbClr val="142B3C"/>
                </a:solidFill>
                <a:latin typeface="Calibri"/>
              </a:rPr>
              <a:t>trả tiền per /verify
mất OTP cost, mất friction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2194560"/>
            <a:ext cx="685801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1371600"/>
            <a:ext cx="3291840" cy="164592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43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Digicom-ET SAS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CAMARA NV2 · IP-match + TS.43
micro-jainslee container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6679" y="2194560"/>
            <a:ext cx="685801" cy="0"/>
          </a:xfrm>
          <a:prstGeom prst="line">
            <a:avLst/>
          </a:prstGeom>
          <a:ln w="25400">
            <a:solidFill>
              <a:srgbClr val="0E6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1371600"/>
            <a:ext cx="3291840" cy="164592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142B3C"/>
                </a:solidFill>
                <a:latin typeface="Calibri"/>
              </a:rPr>
              <a:t>Ethio Telecom</a:t>
            </a:r>
          </a:p>
          <a:p>
            <a:pPr algn="ctr"/>
            <a:r>
              <a:rPr sz="1300" b="0">
                <a:solidFill>
                  <a:srgbClr val="142B3C"/>
                </a:solidFill>
                <a:latin typeface="Calibri"/>
              </a:rPr>
              <a:t>PGW · HLR/HSS · PCRF · SMSC
không mất A2P 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Billing qua CDR full-flow: per verify thành công + per fallback OTP (nếu dùng)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Digicom thuê quyền truy nhập Resolver/Verifier từ operator — SAS không hưởng SMS revenue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Bank không cần biết hạ tầng SS7 — chỉ cần mTLS + API key theo CAMARA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Rủi ro trách nhiệm: silent auth là lớp phụ trợ, không thay thế firewall; phân phối theo dual license (AGPL / Operator)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19/21</a:t>
            </a:r>
          </a:p>
        </p:txBody>
      </p:sp>
      <p:sp>
        <p:nvSpPr>
          <p:cNvPr id="12" name="Oval 11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43255"/>
                </a:solidFill>
                <a:latin typeface="Calibri"/>
              </a:rPr>
              <a:t>Lộ trình 4 pha — SMS được bảo vệ trước, silent auth sau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777240"/>
            <a:ext cx="2194560" cy="45720"/>
          </a:xfrm>
          <a:prstGeom prst="rect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5D6A"/>
                </a:solidFill>
                <a:latin typeface="Calibri"/>
              </a:rPr>
              <a:t>Chi phí thấp nhất, rủi ro thấp nhất, đưa OTP vào kênh firewalled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192024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P1 · Bảo vệ SMS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Home Routing + SS7 FW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ngày 0–60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54480"/>
            <a:ext cx="2697480" cy="192024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P2 · Diameter/5G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DEA FS.19 · SEPP FS.36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60–120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697480" cy="192024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P3 · Silent Auth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NV2/TS.43 · IP-match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120–180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697480" cy="1920240"/>
          </a:xfrm>
          <a:prstGeom prst="roundRect">
            <a:avLst/>
          </a:prstGeom>
          <a:solidFill>
            <a:srgbClr val="EAF6FB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142B3C"/>
                </a:solidFill>
                <a:latin typeface="Calibri"/>
              </a:rPr>
              <a:t>P4 · Dịch chuyển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OTP → fallback duy nhất</a:t>
            </a:r>
          </a:p>
          <a:p>
            <a:pPr algn="ctr"/>
            <a:r>
              <a:rPr sz="1200" b="0">
                <a:solidFill>
                  <a:srgbClr val="142B3C"/>
                </a:solidFill>
                <a:latin typeface="Calibri"/>
              </a:rPr>
              <a:t>180+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514600"/>
            <a:ext cx="137160" cy="0"/>
          </a:xfrm>
          <a:prstGeom prst="line">
            <a:avLst/>
          </a:prstGeom>
          <a:ln w="25400">
            <a:solidFill>
              <a:srgbClr val="0E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514600"/>
            <a:ext cx="457200" cy="0"/>
          </a:xfrm>
          <a:prstGeom prst="line">
            <a:avLst/>
          </a:prstGeom>
          <a:ln w="25400">
            <a:solidFill>
              <a:srgbClr val="0E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2514600"/>
            <a:ext cx="457200" cy="0"/>
          </a:xfrm>
          <a:prstGeom prst="line">
            <a:avLst/>
          </a:prstGeom>
          <a:ln w="25400">
            <a:solidFill>
              <a:srgbClr val="0E6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8404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SAS hiện tại: CAMARA NV adapter P0 xong, P2 verifier jSS7 (PSI/SAI) lab-pass — sẵn cho pilot bank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B3C"/>
                </a:solidFill>
                <a:latin typeface="Calibri"/>
              </a:rPr>
              <a:t>•  Còn mở: assurance weights, post-CGNAT srcPort (P-H8), TS.43 feasibility, UAT mTLS/SS7 thật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86400"/>
            <a:ext cx="11247120" cy="777240"/>
          </a:xfrm>
          <a:prstGeom prst="roundRect">
            <a:avLst/>
          </a:prstGeom>
          <a:solidFill>
            <a:srgbClr val="043255"/>
          </a:solidFill>
          <a:ln w="12700">
            <a:solidFill>
              <a:srgbClr val="0E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Hãy bắt đầu pilot với một bank: dev sandbox + API sandbox CAMARA — 4 tuần để KPI bằng chứng.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5D6A"/>
                </a:solidFill>
                <a:latin typeface="Calibri"/>
              </a:rPr>
              <a:t>Digicom-ET  ·  Silent Authentication Proposal (Sea)  ·  20/21</a:t>
            </a:r>
          </a:p>
        </p:txBody>
      </p:sp>
      <p:sp>
        <p:nvSpPr>
          <p:cNvPr id="15" name="Oval 14"/>
          <p:cNvSpPr/>
          <p:nvPr/>
        </p:nvSpPr>
        <p:spPr>
          <a:xfrm>
            <a:off x="-274320" y="6656832"/>
            <a:ext cx="237744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6656832"/>
            <a:ext cx="310896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0" y="6656832"/>
            <a:ext cx="274320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29800" y="6656832"/>
            <a:ext cx="2103120" cy="1005840"/>
          </a:xfrm>
          <a:prstGeom prst="ellipse">
            <a:avLst/>
          </a:prstGeom>
          <a:solidFill>
            <a:srgbClr val="BF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2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74320" y="5120640"/>
            <a:ext cx="237744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120640"/>
            <a:ext cx="310896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5120640"/>
            <a:ext cx="274320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0" y="5120640"/>
            <a:ext cx="2103120" cy="1005840"/>
          </a:xfrm>
          <a:prstGeom prst="ellipse">
            <a:avLst/>
          </a:prstGeom>
          <a:solidFill>
            <a:srgbClr val="0E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" y="5486400"/>
            <a:ext cx="237744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5486400"/>
            <a:ext cx="310896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5486400"/>
            <a:ext cx="274320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9800" y="5486400"/>
            <a:ext cx="2103120" cy="1005840"/>
          </a:xfrm>
          <a:prstGeom prst="ellipse">
            <a:avLst/>
          </a:prstGeom>
          <a:solidFill>
            <a:srgbClr val="2F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274320" y="5852160"/>
            <a:ext cx="237744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0" y="5852160"/>
            <a:ext cx="310896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5852160"/>
            <a:ext cx="274320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29800" y="5852160"/>
            <a:ext cx="2103120" cy="1005840"/>
          </a:xfrm>
          <a:prstGeom prst="ellipse">
            <a:avLst/>
          </a:prstGeom>
          <a:solidFill>
            <a:srgbClr val="7FD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-274320" y="6263640"/>
            <a:ext cx="23774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6263640"/>
            <a:ext cx="310896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6263640"/>
            <a:ext cx="274320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29800" y="6263640"/>
            <a:ext cx="210312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Ameseginalehu · Cảm 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FD3EC"/>
                </a:solidFill>
                <a:latin typeface="Calibri"/>
              </a:rPr>
              <a:t>Silent Authentication — đi cùng nhau để OTP không còn là khâu yếu nhất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FE4F0"/>
                </a:solidFill>
                <a:latin typeface="Calibri"/>
              </a:rPr>
              <a:t>Digicom-ET · Ethio Telecom adapter · CAMARA + GSMA FASG · nhanth87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